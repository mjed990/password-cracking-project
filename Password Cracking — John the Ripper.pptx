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805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5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openxmlformats.org/officeDocument/2006/relationships/image" Target="../media/image15.png"/><Relationship Id="rId21" Type="http://schemas.openxmlformats.org/officeDocument/2006/relationships/image" Target="../media/image4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11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10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11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10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11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0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11.png"/><Relationship Id="rId9" Type="http://schemas.openxmlformats.org/officeDocument/2006/relationships/image" Target="../media/image8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31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1514281"/>
            <a:ext cx="8534400" cy="384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272415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3600" y="4924425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9983" y="4924425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1000" y="6429375"/>
            <a:ext cx="1898600" cy="27622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1341120" y="1733550"/>
            <a:ext cx="95097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Cracking</a:t>
            </a:r>
            <a:endParaRPr lang="en-US" sz="2700" dirty="0"/>
          </a:p>
        </p:txBody>
      </p:sp>
      <p:sp>
        <p:nvSpPr>
          <p:cNvPr id="12" name="Text 1"/>
          <p:cNvSpPr/>
          <p:nvPr/>
        </p:nvSpPr>
        <p:spPr>
          <a:xfrm>
            <a:off x="2133600" y="2228850"/>
            <a:ext cx="792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the Ripper</a:t>
            </a:r>
            <a:endParaRPr lang="en-US" sz="2250" dirty="0"/>
          </a:p>
        </p:txBody>
      </p:sp>
      <p:sp>
        <p:nvSpPr>
          <p:cNvPr id="13" name="Text 2"/>
          <p:cNvSpPr/>
          <p:nvPr/>
        </p:nvSpPr>
        <p:spPr>
          <a:xfrm>
            <a:off x="2133600" y="3219450"/>
            <a:ext cx="792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Prepared by：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2171700" y="3562350"/>
            <a:ext cx="7886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1- Mohammed Almaghrabi</a:t>
            </a:r>
            <a:endParaRPr lang="en-US" sz="1350" dirty="0"/>
          </a:p>
        </p:txBody>
      </p:sp>
      <p:sp>
        <p:nvSpPr>
          <p:cNvPr id="15" name="Text 4"/>
          <p:cNvSpPr/>
          <p:nvPr/>
        </p:nvSpPr>
        <p:spPr>
          <a:xfrm>
            <a:off x="2171700" y="3905250"/>
            <a:ext cx="7886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2- Abdulmajeed Ali Alghamdi</a:t>
            </a:r>
            <a:endParaRPr lang="en-US" sz="1350" dirty="0"/>
          </a:p>
        </p:txBody>
      </p:sp>
      <p:sp>
        <p:nvSpPr>
          <p:cNvPr id="16" name="Text 5"/>
          <p:cNvSpPr/>
          <p:nvPr/>
        </p:nvSpPr>
        <p:spPr>
          <a:xfrm>
            <a:off x="2171700" y="4248150"/>
            <a:ext cx="7886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3- Khaled Albalawi</a:t>
            </a:r>
            <a:endParaRPr lang="en-US" sz="1350" dirty="0"/>
          </a:p>
        </p:txBody>
      </p:sp>
      <p:sp>
        <p:nvSpPr>
          <p:cNvPr id="17" name="Text 6"/>
          <p:cNvSpPr/>
          <p:nvPr/>
        </p:nvSpPr>
        <p:spPr>
          <a:xfrm>
            <a:off x="2343150" y="4895850"/>
            <a:ext cx="17998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Date: 2025-11-03</a:t>
            </a:r>
            <a:endParaRPr lang="en-US" sz="1200" dirty="0"/>
          </a:p>
        </p:txBody>
      </p:sp>
      <p:sp>
        <p:nvSpPr>
          <p:cNvPr id="18" name="Text 7"/>
          <p:cNvSpPr/>
          <p:nvPr/>
        </p:nvSpPr>
        <p:spPr>
          <a:xfrm>
            <a:off x="6796683" y="4895850"/>
            <a:ext cx="42341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Source: ~/Downloads/hashes_for_crack.txt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10484793" y="6505575"/>
            <a:ext cx="1865769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SECURITY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24113"/>
            <a:ext cx="190500" cy="9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14813"/>
            <a:ext cx="190500" cy="95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650" y="1619250"/>
            <a:ext cx="2857500" cy="28575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8" name="Text 1"/>
          <p:cNvSpPr/>
          <p:nvPr/>
        </p:nvSpPr>
        <p:spPr>
          <a:xfrm>
            <a:off x="457200" y="1257300"/>
            <a:ext cx="5334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report documents the results of a password-cracking session executed with John the Ripper against a hash export from an OWASP Juice Shop instance.</a:t>
            </a:r>
            <a:endParaRPr lang="en-US" sz="1500" dirty="0"/>
          </a:p>
        </p:txBody>
      </p:sp>
      <p:sp>
        <p:nvSpPr>
          <p:cNvPr id="9" name="Text 2"/>
          <p:cNvSpPr/>
          <p:nvPr/>
        </p:nvSpPr>
        <p:spPr>
          <a:xfrm>
            <a:off x="762000" y="22860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762000" y="26289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Successfully recovered plaintext credentials for 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accounts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from 22 Raw-MD5 hashes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762000" y="31623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Recovered credentials indicate use of 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weak, easily guessable passwords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present in common wordlists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762000" y="3695700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risk of unauthorized access and potential credential reuse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762000" y="4076700"/>
            <a:ext cx="41759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Recommendations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4" name="Text 7"/>
          <p:cNvSpPr/>
          <p:nvPr/>
        </p:nvSpPr>
        <p:spPr>
          <a:xfrm>
            <a:off x="762000" y="4419600"/>
            <a:ext cx="50111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Immediate remediation and follow-up investigations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762000" y="4648200"/>
            <a:ext cx="50111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Force password resets for affected accounts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762000" y="4876800"/>
            <a:ext cx="50111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stronger password policies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242691" y="4857750"/>
            <a:ext cx="82010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1"/>
          <p:cNvSpPr/>
          <p:nvPr/>
        </p:nvSpPr>
        <p:spPr>
          <a:xfrm>
            <a:off x="7242691" y="5353050"/>
            <a:ext cx="82010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4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CRACKED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8190175" y="4857750"/>
            <a:ext cx="130891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22</a:t>
            </a:r>
            <a:endParaRPr lang="en-US" sz="3600" dirty="0"/>
          </a:p>
        </p:txBody>
      </p:sp>
      <p:sp>
        <p:nvSpPr>
          <p:cNvPr id="20" name="Text 13"/>
          <p:cNvSpPr/>
          <p:nvPr/>
        </p:nvSpPr>
        <p:spPr>
          <a:xfrm>
            <a:off x="8190175" y="5353050"/>
            <a:ext cx="130891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4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HASHES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9612332" y="4857750"/>
            <a:ext cx="98976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</a:t>
            </a:r>
            <a:endParaRPr lang="en-US" sz="3600" dirty="0"/>
          </a:p>
        </p:txBody>
      </p:sp>
      <p:sp>
        <p:nvSpPr>
          <p:cNvPr id="22" name="Text 15"/>
          <p:cNvSpPr/>
          <p:nvPr/>
        </p:nvSpPr>
        <p:spPr>
          <a:xfrm>
            <a:off x="9612332" y="5353050"/>
            <a:ext cx="9897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4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REMAINING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457200" y="6210300"/>
            <a:ext cx="4600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11435358" y="6210300"/>
            <a:ext cx="3593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543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28800"/>
            <a:ext cx="114300" cy="152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71700"/>
            <a:ext cx="13335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514600"/>
            <a:ext cx="1143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18288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24003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152900"/>
            <a:ext cx="16764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8400" y="4524375"/>
            <a:ext cx="7620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0" y="4076700"/>
            <a:ext cx="1676400" cy="914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1900" y="42291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1600" y="4524375"/>
            <a:ext cx="762000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7800" y="3962400"/>
            <a:ext cx="1676400" cy="1143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81700" y="41148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8400" y="4524375"/>
            <a:ext cx="762000" cy="19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67600" y="4076700"/>
            <a:ext cx="1676400" cy="914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1500" y="42291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1600" y="4524375"/>
            <a:ext cx="762000" cy="19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77400" y="4076700"/>
            <a:ext cx="1676400" cy="914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01300" y="42291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66900" y="5334000"/>
            <a:ext cx="8458200" cy="1333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19300" y="5486400"/>
            <a:ext cx="219075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19300" y="5829300"/>
            <a:ext cx="8153400" cy="6858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&amp; Methodology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457200" y="1181100"/>
            <a:ext cx="9311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685800" y="1790700"/>
            <a:ext cx="61957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File: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~/Downloads/hashes_for_crack.txt (Juice Shop export)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704850" y="2133600"/>
            <a:ext cx="23110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Hash Format: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Raw-MD5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685800" y="2476500"/>
            <a:ext cx="16757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Hashes: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22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6324600" y="1181100"/>
            <a:ext cx="16255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31" name="Text 6"/>
          <p:cNvSpPr/>
          <p:nvPr/>
        </p:nvSpPr>
        <p:spPr>
          <a:xfrm>
            <a:off x="6591300" y="1790700"/>
            <a:ext cx="5143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Recover Plaintext Passwords: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Assess exposure and vulnerability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6591300" y="2362200"/>
            <a:ext cx="5143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Action Items: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Remediation and prioritized security recommendations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457200" y="3200400"/>
            <a:ext cx="201650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4" name="Text 9"/>
          <p:cNvSpPr/>
          <p:nvPr/>
        </p:nvSpPr>
        <p:spPr>
          <a:xfrm>
            <a:off x="853440" y="453390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Dump Hashes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3063240" y="461010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Confirm Format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5410200" y="4495800"/>
            <a:ext cx="137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Wordlist + Rules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7482840" y="461010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 Cracked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9692640" y="461010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Incremental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2352675" y="5486400"/>
            <a:ext cx="24658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Command:</a:t>
            </a:r>
            <a:endParaRPr lang="en-US" sz="1500" dirty="0"/>
          </a:p>
        </p:txBody>
      </p:sp>
      <p:sp>
        <p:nvSpPr>
          <p:cNvPr id="40" name="Text 15"/>
          <p:cNvSpPr/>
          <p:nvPr/>
        </p:nvSpPr>
        <p:spPr>
          <a:xfrm>
            <a:off x="2133600" y="5829300"/>
            <a:ext cx="8153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john --fork=4 --format=raw-md5 --wordlist=/usr/share/wordlists/rockyou.txt ~/Downloads/hashes_for_crack.txt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457200" y="6896100"/>
            <a:ext cx="4600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11435358" y="6896100"/>
            <a:ext cx="3593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505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81100"/>
            <a:ext cx="6629400" cy="3810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14500"/>
            <a:ext cx="6324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324100"/>
            <a:ext cx="1917948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7548" y="2324100"/>
            <a:ext cx="1854398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946" y="2324100"/>
            <a:ext cx="2552254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4346" y="24669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781300"/>
            <a:ext cx="6324600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2781300"/>
            <a:ext cx="1917948" cy="685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27548" y="2781300"/>
            <a:ext cx="1854398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1946" y="2781300"/>
            <a:ext cx="2552254" cy="685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4346" y="29241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467100"/>
            <a:ext cx="1917948" cy="685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27548" y="3467100"/>
            <a:ext cx="1854398" cy="685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1946" y="3467100"/>
            <a:ext cx="2552254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4346" y="360997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152900"/>
            <a:ext cx="6324600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152900"/>
            <a:ext cx="1917948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27548" y="4152900"/>
            <a:ext cx="1854398" cy="685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81946" y="4152900"/>
            <a:ext cx="2552254" cy="685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4346" y="429577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143500"/>
            <a:ext cx="6629400" cy="1485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334000"/>
            <a:ext cx="219075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5638800"/>
            <a:ext cx="6324600" cy="838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15200" y="1181100"/>
            <a:ext cx="4419600" cy="54483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67600" y="1371600"/>
            <a:ext cx="190500" cy="190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67600" y="1714500"/>
            <a:ext cx="3810000" cy="1905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67600" y="5676900"/>
            <a:ext cx="1981200" cy="800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01200" y="5676900"/>
            <a:ext cx="1981200" cy="8001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Technical Findings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876300" y="1333500"/>
            <a:ext cx="632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Recovered Credentials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762000" y="1714500"/>
            <a:ext cx="1917948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Account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2679948" y="1714500"/>
            <a:ext cx="1854398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Recovered Password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4534346" y="1714500"/>
            <a:ext cx="255225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Notes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762000" y="2324100"/>
            <a:ext cx="230153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admin@juice-sh.op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2679948" y="2324100"/>
            <a:ext cx="185439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admin123</a:t>
            </a:r>
            <a:endParaRPr lang="en-US" sz="1200" dirty="0"/>
          </a:p>
        </p:txBody>
      </p:sp>
      <p:sp>
        <p:nvSpPr>
          <p:cNvPr id="40" name="Text 7"/>
          <p:cNvSpPr/>
          <p:nvPr/>
        </p:nvSpPr>
        <p:spPr>
          <a:xfrm>
            <a:off x="4724846" y="2324100"/>
            <a:ext cx="306270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Common weak password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762000" y="2781300"/>
            <a:ext cx="230153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jim@juice-sh.op</a:t>
            </a:r>
            <a:endParaRPr lang="en-US" sz="1200" dirty="0"/>
          </a:p>
        </p:txBody>
      </p:sp>
      <p:sp>
        <p:nvSpPr>
          <p:cNvPr id="42" name="Text 9"/>
          <p:cNvSpPr/>
          <p:nvPr/>
        </p:nvSpPr>
        <p:spPr>
          <a:xfrm>
            <a:off x="2679948" y="2781300"/>
            <a:ext cx="222527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ncc-1701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4724846" y="2781300"/>
            <a:ext cx="255225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Simple alphanumeric pattern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762000" y="3467100"/>
            <a:ext cx="191794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</a:t>
            </a: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2679948" y="3467100"/>
            <a:ext cx="185439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demo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4724846" y="3467100"/>
            <a:ext cx="255225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Default/placeholder password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762000" y="4152900"/>
            <a:ext cx="191794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ethereum@juice-sh.op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2679948" y="4152900"/>
            <a:ext cx="185439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private</a:t>
            </a:r>
            <a:endParaRPr lang="en-US" sz="1200" dirty="0"/>
          </a:p>
        </p:txBody>
      </p:sp>
      <p:sp>
        <p:nvSpPr>
          <p:cNvPr id="49" name="Text 16"/>
          <p:cNvSpPr/>
          <p:nvPr/>
        </p:nvSpPr>
        <p:spPr>
          <a:xfrm>
            <a:off x="4724846" y="4152900"/>
            <a:ext cx="255225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Common word; likely reused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904875" y="5295900"/>
            <a:ext cx="632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Executed</a:t>
            </a:r>
            <a:endParaRPr lang="en-US" sz="1500" dirty="0"/>
          </a:p>
        </p:txBody>
      </p:sp>
      <p:sp>
        <p:nvSpPr>
          <p:cNvPr id="51" name="Text 18"/>
          <p:cNvSpPr/>
          <p:nvPr/>
        </p:nvSpPr>
        <p:spPr>
          <a:xfrm>
            <a:off x="685800" y="5638800"/>
            <a:ext cx="63246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john --fork=4 --format=raw-md5 --wordlist=/usr/share/wordlists/rockyou.txt ~/Downloads/hashes_for_crack.txt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7734300" y="1333500"/>
            <a:ext cx="4937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Password Strength Analysis</a:t>
            </a:r>
            <a:endParaRPr lang="en-US" sz="1500" dirty="0"/>
          </a:p>
        </p:txBody>
      </p:sp>
      <p:sp>
        <p:nvSpPr>
          <p:cNvPr id="53" name="Text 20"/>
          <p:cNvSpPr/>
          <p:nvPr/>
        </p:nvSpPr>
        <p:spPr>
          <a:xfrm>
            <a:off x="7581900" y="5791200"/>
            <a:ext cx="1752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2250" dirty="0"/>
          </a:p>
        </p:txBody>
      </p:sp>
      <p:sp>
        <p:nvSpPr>
          <p:cNvPr id="54" name="Text 21"/>
          <p:cNvSpPr/>
          <p:nvPr/>
        </p:nvSpPr>
        <p:spPr>
          <a:xfrm>
            <a:off x="7406640" y="6172200"/>
            <a:ext cx="2103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4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CRACKED ACCOUNTS</a:t>
            </a:r>
            <a:endParaRPr lang="en-US" sz="1050" dirty="0"/>
          </a:p>
        </p:txBody>
      </p:sp>
      <p:sp>
        <p:nvSpPr>
          <p:cNvPr id="55" name="Text 22"/>
          <p:cNvSpPr/>
          <p:nvPr/>
        </p:nvSpPr>
        <p:spPr>
          <a:xfrm>
            <a:off x="9715500" y="5791200"/>
            <a:ext cx="1752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22</a:t>
            </a:r>
            <a:endParaRPr lang="en-US" sz="2250" dirty="0"/>
          </a:p>
        </p:txBody>
      </p:sp>
      <p:sp>
        <p:nvSpPr>
          <p:cNvPr id="56" name="Text 23"/>
          <p:cNvSpPr/>
          <p:nvPr/>
        </p:nvSpPr>
        <p:spPr>
          <a:xfrm>
            <a:off x="9540240" y="6172200"/>
            <a:ext cx="2103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4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HASHES</a:t>
            </a:r>
            <a:endParaRPr lang="en-US" sz="1050" dirty="0"/>
          </a:p>
        </p:txBody>
      </p:sp>
      <p:sp>
        <p:nvSpPr>
          <p:cNvPr id="57" name="Text 24"/>
          <p:cNvSpPr/>
          <p:nvPr/>
        </p:nvSpPr>
        <p:spPr>
          <a:xfrm>
            <a:off x="457200" y="6858000"/>
            <a:ext cx="4600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8" name="Text 25"/>
          <p:cNvSpPr/>
          <p:nvPr/>
        </p:nvSpPr>
        <p:spPr>
          <a:xfrm>
            <a:off x="11435358" y="6858000"/>
            <a:ext cx="3593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19200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33700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2000"/>
            <a:ext cx="1714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2192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638300"/>
            <a:ext cx="1808113" cy="15049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2095500"/>
            <a:ext cx="1579513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3663" y="1638300"/>
            <a:ext cx="1762869" cy="15049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7963" y="2095500"/>
            <a:ext cx="1534269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1782" y="1638300"/>
            <a:ext cx="1763018" cy="15049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6082" y="2095500"/>
            <a:ext cx="1534418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295650"/>
            <a:ext cx="5524500" cy="1219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3486150"/>
            <a:ext cx="190500" cy="1905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&amp; Impact Assessment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828675" y="1181100"/>
            <a:ext cx="6629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Password Strength Analysis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647700" y="160020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Cracked passwords are weak and easily guessable (e.g., 'admin123', 'demo')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647700" y="21336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Passwords found in standard wordlists such as rockyou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647700" y="24384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Users employed trivial or default credentials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771525" y="2895600"/>
            <a:ext cx="6629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Likelihood of Compromise</a:t>
            </a:r>
            <a:endParaRPr lang="en-US" sz="1800" dirty="0"/>
          </a:p>
        </p:txBody>
      </p:sp>
      <p:sp>
        <p:nvSpPr>
          <p:cNvPr id="22" name="Text 6"/>
          <p:cNvSpPr/>
          <p:nvPr/>
        </p:nvSpPr>
        <p:spPr>
          <a:xfrm>
            <a:off x="647700" y="331470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Accounts with recovered passwords are at </a:t>
            </a:r>
            <a:r>
              <a:rPr lang="en-US" sz="12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risk</a:t>
            </a: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 unauthorized access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647700" y="384810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Password reuse on other systems significantly increases overall risk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742950" y="4533900"/>
            <a:ext cx="5524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Attack Efficiency</a:t>
            </a:r>
            <a:endParaRPr lang="en-US" sz="1800" dirty="0"/>
          </a:p>
        </p:txBody>
      </p:sp>
      <p:sp>
        <p:nvSpPr>
          <p:cNvPr id="25" name="Text 9"/>
          <p:cNvSpPr/>
          <p:nvPr/>
        </p:nvSpPr>
        <p:spPr>
          <a:xfrm>
            <a:off x="647700" y="495300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Widely-available wordlist with basic rules recovered 4/22 hashes quickly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647700" y="54864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Demonstrates high efficiency against weak password selections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553200" y="1181100"/>
            <a:ext cx="6629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Impact Assessment</a:t>
            </a:r>
            <a:endParaRPr lang="en-US" sz="1800" dirty="0"/>
          </a:p>
        </p:txBody>
      </p:sp>
      <p:sp>
        <p:nvSpPr>
          <p:cNvPr id="28" name="Text 12"/>
          <p:cNvSpPr/>
          <p:nvPr/>
        </p:nvSpPr>
        <p:spPr>
          <a:xfrm>
            <a:off x="6324600" y="1752600"/>
            <a:ext cx="18954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29" name="Text 13"/>
          <p:cNvSpPr/>
          <p:nvPr/>
        </p:nvSpPr>
        <p:spPr>
          <a:xfrm>
            <a:off x="6915596" y="2124075"/>
            <a:ext cx="4768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6324600" y="2457450"/>
            <a:ext cx="1579513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accounts with administrative privileges</a:t>
            </a:r>
            <a:endParaRPr lang="en-US" sz="1050" dirty="0"/>
          </a:p>
        </p:txBody>
      </p:sp>
      <p:sp>
        <p:nvSpPr>
          <p:cNvPr id="31" name="Text 15"/>
          <p:cNvSpPr/>
          <p:nvPr/>
        </p:nvSpPr>
        <p:spPr>
          <a:xfrm>
            <a:off x="8227963" y="1752600"/>
            <a:ext cx="18411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32" name="Text 16"/>
          <p:cNvSpPr/>
          <p:nvPr/>
        </p:nvSpPr>
        <p:spPr>
          <a:xfrm>
            <a:off x="8653165" y="2124075"/>
            <a:ext cx="820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Medium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8227963" y="2457450"/>
            <a:ext cx="153426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If attackers modify data or settings</a:t>
            </a:r>
            <a:endParaRPr lang="en-US" sz="1050" dirty="0"/>
          </a:p>
        </p:txBody>
      </p:sp>
      <p:sp>
        <p:nvSpPr>
          <p:cNvPr id="34" name="Text 18"/>
          <p:cNvSpPr/>
          <p:nvPr/>
        </p:nvSpPr>
        <p:spPr>
          <a:xfrm>
            <a:off x="10086082" y="1752600"/>
            <a:ext cx="18413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35" name="Text 19"/>
          <p:cNvSpPr/>
          <p:nvPr/>
        </p:nvSpPr>
        <p:spPr>
          <a:xfrm>
            <a:off x="10511433" y="2124075"/>
            <a:ext cx="820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Medium</a:t>
            </a:r>
            <a:endParaRPr lang="en-US" sz="1200" dirty="0"/>
          </a:p>
        </p:txBody>
      </p:sp>
      <p:sp>
        <p:nvSpPr>
          <p:cNvPr id="36" name="Text 20"/>
          <p:cNvSpPr/>
          <p:nvPr/>
        </p:nvSpPr>
        <p:spPr>
          <a:xfrm>
            <a:off x="10086082" y="2457450"/>
            <a:ext cx="153441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If attackers lock accounts or trigger responses</a:t>
            </a:r>
            <a:endParaRPr lang="en-US" sz="1050" dirty="0"/>
          </a:p>
        </p:txBody>
      </p:sp>
      <p:sp>
        <p:nvSpPr>
          <p:cNvPr id="37" name="Text 21"/>
          <p:cNvSpPr/>
          <p:nvPr/>
        </p:nvSpPr>
        <p:spPr>
          <a:xfrm>
            <a:off x="6629400" y="344805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Overall Business Impact</a:t>
            </a:r>
            <a:endParaRPr lang="en-US" sz="1500" dirty="0"/>
          </a:p>
        </p:txBody>
      </p:sp>
      <p:sp>
        <p:nvSpPr>
          <p:cNvPr id="38" name="Text 22"/>
          <p:cNvSpPr/>
          <p:nvPr/>
        </p:nvSpPr>
        <p:spPr>
          <a:xfrm>
            <a:off x="6362700" y="3790950"/>
            <a:ext cx="52197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production systems, similar weak passwords would represent a </a:t>
            </a:r>
            <a:r>
              <a:rPr lang="en-US" sz="105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 security risk</a:t>
            </a: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leading to data breaches, unauthorized transactions, or lateral movement within the environment.</a:t>
            </a:r>
            <a:endParaRPr lang="en-US" sz="1050" dirty="0"/>
          </a:p>
        </p:txBody>
      </p:sp>
      <p:sp>
        <p:nvSpPr>
          <p:cNvPr id="39" name="Text 23"/>
          <p:cNvSpPr/>
          <p:nvPr/>
        </p:nvSpPr>
        <p:spPr>
          <a:xfrm>
            <a:off x="457200" y="6210300"/>
            <a:ext cx="4600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0" name="Text 24"/>
          <p:cNvSpPr/>
          <p:nvPr/>
        </p:nvSpPr>
        <p:spPr>
          <a:xfrm>
            <a:off x="11435358" y="6210300"/>
            <a:ext cx="3593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1257300"/>
            <a:ext cx="6096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12573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171700"/>
            <a:ext cx="5486400" cy="3733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400300"/>
            <a:ext cx="1714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895600"/>
            <a:ext cx="1524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467100"/>
            <a:ext cx="1524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038600"/>
            <a:ext cx="1524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2171700"/>
            <a:ext cx="5486400" cy="3733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24003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2895600"/>
            <a:ext cx="1524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5100" y="3467100"/>
            <a:ext cx="1524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4038600"/>
            <a:ext cx="1524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0607" y="4610100"/>
            <a:ext cx="133350" cy="5715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 &amp; Long-Term Recommendations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1180162" y="1409700"/>
            <a:ext cx="38272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NOW</a:t>
            </a:r>
            <a:endParaRPr lang="en-US" sz="900" dirty="0"/>
          </a:p>
        </p:txBody>
      </p:sp>
      <p:sp>
        <p:nvSpPr>
          <p:cNvPr id="19" name="Text 2"/>
          <p:cNvSpPr/>
          <p:nvPr/>
        </p:nvSpPr>
        <p:spPr>
          <a:xfrm>
            <a:off x="1180162" y="1562100"/>
            <a:ext cx="38272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72h</a:t>
            </a:r>
            <a:endParaRPr lang="en-US" sz="900" dirty="0"/>
          </a:p>
        </p:txBody>
      </p:sp>
      <p:sp>
        <p:nvSpPr>
          <p:cNvPr id="20" name="Text 3"/>
          <p:cNvSpPr/>
          <p:nvPr/>
        </p:nvSpPr>
        <p:spPr>
          <a:xfrm>
            <a:off x="10519097" y="1333500"/>
            <a:ext cx="60275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</a:t>
            </a:r>
            <a:endParaRPr lang="en-US" sz="900" dirty="0"/>
          </a:p>
        </p:txBody>
      </p:sp>
      <p:sp>
        <p:nvSpPr>
          <p:cNvPr id="21" name="Text 4"/>
          <p:cNvSpPr/>
          <p:nvPr/>
        </p:nvSpPr>
        <p:spPr>
          <a:xfrm>
            <a:off x="10569327" y="1485900"/>
            <a:ext cx="5022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7+ MONTHS</a:t>
            </a:r>
            <a:endParaRPr lang="en-US" sz="900" dirty="0"/>
          </a:p>
        </p:txBody>
      </p:sp>
      <p:sp>
        <p:nvSpPr>
          <p:cNvPr id="22" name="Text 5"/>
          <p:cNvSpPr/>
          <p:nvPr/>
        </p:nvSpPr>
        <p:spPr>
          <a:xfrm>
            <a:off x="971550" y="2400300"/>
            <a:ext cx="4963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Short-Term Measures (72 hours)</a:t>
            </a:r>
            <a:endParaRPr lang="en-US" sz="1800" dirty="0"/>
          </a:p>
        </p:txBody>
      </p:sp>
      <p:sp>
        <p:nvSpPr>
          <p:cNvPr id="23" name="Text 6"/>
          <p:cNvSpPr/>
          <p:nvPr/>
        </p:nvSpPr>
        <p:spPr>
          <a:xfrm>
            <a:off x="1028700" y="2857500"/>
            <a:ext cx="40442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Password Complexity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1028700" y="3086100"/>
            <a:ext cx="40442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a password complexity policy requiring at least 12 characters and discourage short passwords.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1028700" y="3429000"/>
            <a:ext cx="2720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Multi-Factor Authentication (MFA)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1028700" y="3657600"/>
            <a:ext cx="2720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multi-factor authentication for all privileged and user accounts.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1028700" y="4000500"/>
            <a:ext cx="3200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Password Reuse Inspection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1028700" y="4229100"/>
            <a:ext cx="3840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internal tools to detect if users are reusing passwords across multiple systems.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6791325" y="2400300"/>
            <a:ext cx="453699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Long-Term Recommendations</a:t>
            </a:r>
            <a:endParaRPr lang="en-US" sz="1800" dirty="0"/>
          </a:p>
        </p:txBody>
      </p:sp>
      <p:sp>
        <p:nvSpPr>
          <p:cNvPr id="30" name="Text 13"/>
          <p:cNvSpPr/>
          <p:nvPr/>
        </p:nvSpPr>
        <p:spPr>
          <a:xfrm>
            <a:off x="6819900" y="2857500"/>
            <a:ext cx="3600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Centralized Authentication (SSO)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6819900" y="3086100"/>
            <a:ext cx="4320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centralized or federated identity authentication, providing a unified process to enforce strong password policies.</a:t>
            </a:r>
            <a:endParaRPr lang="en-US" sz="1050" dirty="0"/>
          </a:p>
        </p:txBody>
      </p:sp>
      <p:sp>
        <p:nvSpPr>
          <p:cNvPr id="32" name="Text 15"/>
          <p:cNvSpPr/>
          <p:nvPr/>
        </p:nvSpPr>
        <p:spPr>
          <a:xfrm>
            <a:off x="6819900" y="3429000"/>
            <a:ext cx="31396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6819900" y="3657600"/>
            <a:ext cx="376761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 for abnormal or suspicious login behaviors continuously, and integrate with SIEM/SOAR systems.</a:t>
            </a:r>
            <a:endParaRPr lang="en-US" sz="1050" dirty="0"/>
          </a:p>
        </p:txBody>
      </p:sp>
      <p:sp>
        <p:nvSpPr>
          <p:cNvPr id="34" name="Text 17"/>
          <p:cNvSpPr/>
          <p:nvPr/>
        </p:nvSpPr>
        <p:spPr>
          <a:xfrm>
            <a:off x="6819900" y="4000500"/>
            <a:ext cx="3200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Training</a:t>
            </a:r>
            <a:endParaRPr lang="en-US" sz="1200" dirty="0"/>
          </a:p>
        </p:txBody>
      </p:sp>
      <p:sp>
        <p:nvSpPr>
          <p:cNvPr id="35" name="Text 18"/>
          <p:cNvSpPr/>
          <p:nvPr/>
        </p:nvSpPr>
        <p:spPr>
          <a:xfrm>
            <a:off x="6819900" y="4229100"/>
            <a:ext cx="3840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Include password hygiene and security awareness management in user onboarding and regular training.</a:t>
            </a:r>
            <a:endParaRPr lang="en-US" sz="1050" dirty="0"/>
          </a:p>
        </p:txBody>
      </p:sp>
      <p:sp>
        <p:nvSpPr>
          <p:cNvPr id="36" name="Text 19"/>
          <p:cNvSpPr/>
          <p:nvPr/>
        </p:nvSpPr>
        <p:spPr>
          <a:xfrm>
            <a:off x="6812012" y="4572000"/>
            <a:ext cx="46941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 Hashing Algorithms</a:t>
            </a:r>
            <a:endParaRPr lang="en-US" sz="1200" dirty="0"/>
          </a:p>
        </p:txBody>
      </p:sp>
      <p:sp>
        <p:nvSpPr>
          <p:cNvPr id="37" name="Text 20"/>
          <p:cNvSpPr/>
          <p:nvPr/>
        </p:nvSpPr>
        <p:spPr>
          <a:xfrm>
            <a:off x="6812012" y="4800600"/>
            <a:ext cx="469418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modern, salted, and slow hashing algorithms (such as 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bcrypt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or Argon2) to replace MD5-based storage.</a:t>
            </a:r>
            <a:endParaRPr lang="en-US" sz="1050" dirty="0"/>
          </a:p>
        </p:txBody>
      </p:sp>
      <p:sp>
        <p:nvSpPr>
          <p:cNvPr id="38" name="Text 21"/>
          <p:cNvSpPr/>
          <p:nvPr/>
        </p:nvSpPr>
        <p:spPr>
          <a:xfrm>
            <a:off x="457200" y="6210300"/>
            <a:ext cx="4600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9" name="Text 22"/>
          <p:cNvSpPr/>
          <p:nvPr/>
        </p:nvSpPr>
        <p:spPr>
          <a:xfrm>
            <a:off x="11435358" y="6210300"/>
            <a:ext cx="3593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81100"/>
            <a:ext cx="5524500" cy="18002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81100"/>
            <a:ext cx="55245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57300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33725"/>
            <a:ext cx="5524500" cy="18002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33725"/>
            <a:ext cx="55245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20992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81100"/>
            <a:ext cx="5524500" cy="18002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181100"/>
            <a:ext cx="55245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1257300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133725"/>
            <a:ext cx="5524500" cy="18002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133725"/>
            <a:ext cx="55245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3209925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5133975"/>
            <a:ext cx="1333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429250"/>
            <a:ext cx="5562600" cy="552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5429250"/>
            <a:ext cx="5562600" cy="5524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Evidence &amp; Reproducibility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819150" y="1238250"/>
            <a:ext cx="15364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Executed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571500" y="1619250"/>
            <a:ext cx="19216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endParaRPr lang="en-US" sz="1050" dirty="0"/>
          </a:p>
        </p:txBody>
      </p:sp>
      <p:sp>
        <p:nvSpPr>
          <p:cNvPr id="24" name="Text 3"/>
          <p:cNvSpPr/>
          <p:nvPr/>
        </p:nvSpPr>
        <p:spPr>
          <a:xfrm>
            <a:off x="731639" y="1619250"/>
            <a:ext cx="328106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--fork=4 --format=raw-md5 --wordlist=/usr/share/wordlists/rockyou.txt ~/Downloads/hashes_for_crack.txt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723900" y="2247900"/>
            <a:ext cx="5295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26" name="Text 5"/>
          <p:cNvSpPr/>
          <p:nvPr/>
        </p:nvSpPr>
        <p:spPr>
          <a:xfrm>
            <a:off x="800100" y="3190875"/>
            <a:ext cx="12483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Wordlist Used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571500" y="3571875"/>
            <a:ext cx="307288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/usr/share/wordlists/rockyou.txt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723900" y="3819525"/>
            <a:ext cx="5295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29" name="Text 8"/>
          <p:cNvSpPr/>
          <p:nvPr/>
        </p:nvSpPr>
        <p:spPr>
          <a:xfrm>
            <a:off x="6515100" y="1238250"/>
            <a:ext cx="19205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Cracked Output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6324600" y="1619250"/>
            <a:ext cx="585769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--show --format=Raw-MD5 ~/Downloads/hashes_for_crack.txt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6324600" y="1866900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admin@juice-sh.op</a:t>
            </a: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:admin123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6324600" y="2095500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jim@juice-sh.op</a:t>
            </a: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:ncc-1701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6324600" y="2324100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:demo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6324600" y="2552700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ethereum@juice-sh.op</a:t>
            </a: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:private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6515100" y="3190875"/>
            <a:ext cx="182469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 Evidence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6324600" y="3552825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the Ripper version information and system details 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6324600" y="3819525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 speed statistics: 8745Kp/s</a:t>
            </a:r>
            <a:endParaRPr lang="en-US" sz="1050" dirty="0"/>
          </a:p>
        </p:txBody>
      </p:sp>
      <p:sp>
        <p:nvSpPr>
          <p:cNvPr id="38" name="Text 17"/>
          <p:cNvSpPr/>
          <p:nvPr/>
        </p:nvSpPr>
        <p:spPr>
          <a:xfrm>
            <a:off x="6324600" y="4086225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commands for using incremental attack mode  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6324600" y="4352925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Complete history logs and shell command lines</a:t>
            </a:r>
            <a:endParaRPr lang="en-US" sz="1050" dirty="0"/>
          </a:p>
        </p:txBody>
      </p:sp>
      <p:sp>
        <p:nvSpPr>
          <p:cNvPr id="40" name="Text 19"/>
          <p:cNvSpPr/>
          <p:nvPr/>
        </p:nvSpPr>
        <p:spPr>
          <a:xfrm>
            <a:off x="666750" y="508635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Recommended follow‑up commands</a:t>
            </a:r>
            <a:endParaRPr lang="en-US" sz="1350" dirty="0"/>
          </a:p>
        </p:txBody>
      </p:sp>
      <p:sp>
        <p:nvSpPr>
          <p:cNvPr id="41" name="Text 20"/>
          <p:cNvSpPr/>
          <p:nvPr/>
        </p:nvSpPr>
        <p:spPr>
          <a:xfrm>
            <a:off x="533400" y="5534025"/>
            <a:ext cx="2960936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 john --format=raw-md5 --incremental ~/Downloads/hashes_for_crack.txt</a:t>
            </a:r>
            <a:endParaRPr lang="en-US" sz="1050" dirty="0"/>
          </a:p>
        </p:txBody>
      </p:sp>
      <p:sp>
        <p:nvSpPr>
          <p:cNvPr id="42" name="Text 21"/>
          <p:cNvSpPr/>
          <p:nvPr/>
        </p:nvSpPr>
        <p:spPr>
          <a:xfrm>
            <a:off x="6248400" y="5534025"/>
            <a:ext cx="5281613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 john --format=raw-md5 --wordlist=rockyou.txt --rules --mask='?d?d?d' ~/Downloads/hashes_for_crack.txt</a:t>
            </a:r>
            <a:endParaRPr lang="en-US" sz="1050" dirty="0"/>
          </a:p>
        </p:txBody>
      </p:sp>
      <p:sp>
        <p:nvSpPr>
          <p:cNvPr id="43" name="Text 22"/>
          <p:cNvSpPr/>
          <p:nvPr/>
        </p:nvSpPr>
        <p:spPr>
          <a:xfrm>
            <a:off x="457200" y="6210300"/>
            <a:ext cx="4600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4" name="Text 23"/>
          <p:cNvSpPr/>
          <p:nvPr/>
        </p:nvSpPr>
        <p:spPr>
          <a:xfrm>
            <a:off x="11435358" y="6210300"/>
            <a:ext cx="3593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A61D1F5-0C1C-7226-7AB9-CB3EF84AE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13" y="774176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B3E4D-CB0A-69EF-21AD-2D9C0A7173C8}"/>
              </a:ext>
            </a:extLst>
          </p:cNvPr>
          <p:cNvSpPr txBox="1"/>
          <p:nvPr/>
        </p:nvSpPr>
        <p:spPr>
          <a:xfrm>
            <a:off x="4013200" y="2874839"/>
            <a:ext cx="4948664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600" dirty="0">
                <a:solidFill>
                  <a:schemeClr val="bg2"/>
                </a:solidFill>
              </a:rPr>
              <a:t>Thank You </a:t>
            </a:r>
            <a:endParaRPr lang="ar-SA" sz="6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333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777</Words>
  <Application>Microsoft Office PowerPoint</Application>
  <PresentationFormat>Widescreen</PresentationFormat>
  <Paragraphs>137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Courier New</vt:lpstr>
      <vt:lpstr>ui-monospace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Almaghrabi</cp:lastModifiedBy>
  <cp:revision>2</cp:revision>
  <dcterms:created xsi:type="dcterms:W3CDTF">2025-11-03T10:28:15Z</dcterms:created>
  <dcterms:modified xsi:type="dcterms:W3CDTF">2025-11-03T10:57:13Z</dcterms:modified>
</cp:coreProperties>
</file>